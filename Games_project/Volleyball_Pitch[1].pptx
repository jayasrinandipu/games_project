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6" r:id="rId5"/>
    <p:sldId id="265" r:id="rId6"/>
    <p:sldId id="264" r:id="rId7"/>
    <p:sldId id="263" r:id="rId8"/>
    <p:sldId id="310" r:id="rId9"/>
    <p:sldId id="309" r:id="rId10"/>
    <p:sldId id="275" r:id="rId11"/>
    <p:sldId id="311" r:id="rId12"/>
    <p:sldId id="261" r:id="rId13"/>
    <p:sldId id="260" r:id="rId14"/>
    <p:sldId id="294" r:id="rId15"/>
    <p:sldId id="295" r:id="rId16"/>
    <p:sldId id="259" r:id="rId17"/>
    <p:sldId id="296" r:id="rId18"/>
    <p:sldId id="297" r:id="rId19"/>
    <p:sldId id="258" r:id="rId20"/>
    <p:sldId id="291" r:id="rId21"/>
    <p:sldId id="289" r:id="rId22"/>
    <p:sldId id="281" r:id="rId23"/>
    <p:sldId id="288" r:id="rId24"/>
    <p:sldId id="287" r:id="rId25"/>
    <p:sldId id="283" r:id="rId26"/>
    <p:sldId id="284" r:id="rId27"/>
    <p:sldId id="285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701800"/>
            <a:ext cx="9211733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927350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8467" y="0"/>
            <a:ext cx="12200467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35910" y="-158750"/>
            <a:ext cx="7150100" cy="1014730"/>
          </a:xfrm>
        </p:spPr>
        <p:txBody>
          <a:bodyPr>
            <a:normAutofit/>
          </a:bodyPr>
          <a:lstStyle/>
          <a:p>
            <a:r>
              <a:rPr lang="en-US" dirty="0"/>
              <a:t>Volleyball Pitch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7" descr="IMG_2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2770" y="768350"/>
            <a:ext cx="9319260" cy="59937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Type of Volleyball courts</a:t>
            </a:r>
            <a:endParaRPr lang="en-US"/>
          </a:p>
        </p:txBody>
      </p:sp>
      <p:sp>
        <p:nvSpPr>
          <p:cNvPr id="6" name="Content Placeholder 5"/>
          <p:cNvSpPr/>
          <p:nvPr>
            <p:ph idx="1"/>
          </p:nvPr>
        </p:nvSpPr>
        <p:spPr/>
        <p:txBody>
          <a:bodyPr/>
          <a:p>
            <a:r>
              <a:rPr lang="en-US"/>
              <a:t>There are two types of volley ball courts </a:t>
            </a:r>
            <a:endParaRPr lang="en-US"/>
          </a:p>
          <a:p>
            <a:r>
              <a:rPr lang="en-US"/>
              <a:t>1. Indoor </a:t>
            </a:r>
            <a:endParaRPr lang="en-US"/>
          </a:p>
          <a:p>
            <a:r>
              <a:rPr lang="en-US"/>
              <a:t>2.Outdoor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double play court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A double occurs in volleyball when a player, during a match, is credited with scoring at least ten times in one (or more) of five statistical categories: aces, kills, blocks, digs, and assists.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mixed play court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Male and female players together in a team supporting each other to keep the ball alive before making an attack, just like ordinary volleyball.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26t*50sqrt Total area court design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floor sand </a:t>
            </a:r>
            <a:endParaRPr lang="en-US"/>
          </a:p>
        </p:txBody>
      </p:sp>
      <p:pic>
        <p:nvPicPr>
          <p:cNvPr id="4" name="Content Placeholder 3" descr="beach-volley-volleyball-playing-field-beach-volleyball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68145" y="1691005"/>
            <a:ext cx="8086316" cy="464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floor material volley ball court </a:t>
            </a:r>
            <a:endParaRPr lang="en-US"/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45260" y="1603375"/>
            <a:ext cx="9142095" cy="47758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floor grass volley ball court design</a:t>
            </a:r>
            <a:endParaRPr lang="en-US"/>
          </a:p>
        </p:txBody>
      </p:sp>
      <p:pic>
        <p:nvPicPr>
          <p:cNvPr id="3" name="Content Placeholder 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23925" y="1613535"/>
            <a:ext cx="9793605" cy="49491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floor markers</a:t>
            </a:r>
            <a:endParaRPr lang="en-US"/>
          </a:p>
        </p:txBody>
      </p:sp>
      <p:pic>
        <p:nvPicPr>
          <p:cNvPr id="4" name="Content Placeholder 3" descr="floor markers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09140" y="1825625"/>
            <a:ext cx="709295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volley ball court Floor cleanups equipments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1093470"/>
          </a:xfrm>
        </p:spPr>
        <p:txBody>
          <a:bodyPr>
            <a:normAutofit fontScale="90000"/>
          </a:bodyPr>
          <a:p>
            <a:pPr algn="ctr"/>
            <a:r>
              <a:rPr lang="en-US"/>
              <a:t>Fencing design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640330"/>
            <a:ext cx="10972800" cy="3487420"/>
          </a:xfrm>
        </p:spPr>
        <p:txBody>
          <a:bodyPr/>
          <a:p>
            <a:r>
              <a:rPr lang="en-US"/>
              <a:t>INDOOR VOLLEYBALL POLES </a:t>
            </a:r>
            <a:endParaRPr lang="en-US"/>
          </a:p>
          <a:p>
            <a:r>
              <a:rPr lang="en-US"/>
              <a:t>OUTDOOR VOLLEYBALL POLES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09600" y="1837055"/>
            <a:ext cx="5274945" cy="4845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>
                <a:sym typeface="+mn-ea"/>
              </a:rPr>
              <a:t>Types of polls</a:t>
            </a:r>
            <a:endParaRPr lang="en-US"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no.of polls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position of polls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Types of nets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Carbon Volleyball Poles</a:t>
            </a:r>
            <a:endParaRPr lang="en-US"/>
          </a:p>
          <a:p>
            <a:r>
              <a:rPr lang="en-US"/>
              <a:t>Aluminum Volleyball Poles</a:t>
            </a:r>
            <a:endParaRPr lang="en-US"/>
          </a:p>
          <a:p>
            <a:r>
              <a:rPr lang="en-US"/>
              <a:t>Steel Volleyball Poles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no of nets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Net Height for Men : 2.43m (7.11F)</a:t>
            </a:r>
            <a:endParaRPr lang="en-US"/>
          </a:p>
          <a:p>
            <a:r>
              <a:rPr lang="en-US"/>
              <a:t>Net Height for women : 2.24m (7.4F)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position of nets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>
                <a:sym typeface="+mn-ea"/>
              </a:rPr>
              <a:t>The net is vertical over the middle of court. </a:t>
            </a:r>
            <a:endParaRPr lang="en-US"/>
          </a:p>
          <a:p>
            <a:r>
              <a:rPr lang="en-US">
                <a:sym typeface="+mn-ea"/>
              </a:rPr>
              <a:t>The top is set at 2.43m for men and 2.24m for women.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5940" y="730885"/>
            <a:ext cx="9776460" cy="1247140"/>
          </a:xfrm>
        </p:spPr>
        <p:txBody>
          <a:bodyPr/>
          <a:p>
            <a:r>
              <a:rPr lang="en-US"/>
              <a:t>length of nets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219450"/>
            <a:ext cx="10972800" cy="2908300"/>
          </a:xfrm>
        </p:spPr>
        <p:txBody>
          <a:bodyPr/>
          <a:p>
            <a:r>
              <a:rPr lang="en-US"/>
              <a:t> 2.43m high for men </a:t>
            </a:r>
            <a:endParaRPr lang="en-US"/>
          </a:p>
          <a:p>
            <a:r>
              <a:rPr lang="en-US"/>
              <a:t> 2.24m high for women.</a:t>
            </a:r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top roof for rain season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cover items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types of items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The three disciplines of modern fencing are the foil, the épée, and the sabre (also saber)</a:t>
            </a:r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Covering type flexible (open and close)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olidFill>
                  <a:srgbClr val="000000"/>
                </a:solidFill>
                <a:latin typeface="Calibri" panose="020F0502020204030204"/>
                <a:ea typeface="Calibri" panose="020F0502020204030204"/>
                <a:sym typeface="+mn-ea"/>
              </a:rPr>
              <a:t>Surronding water flow</a:t>
            </a:r>
            <a:endParaRPr lang="en-US"/>
          </a:p>
        </p:txBody>
      </p:sp>
      <p:graphicFrame>
        <p:nvGraphicFramePr>
          <p:cNvPr id="4" name="Content Placeholder 3"/>
          <p:cNvGraphicFramePr/>
          <p:nvPr>
            <p:ph sz="half" idx="1"/>
            <p:custDataLst>
              <p:tags r:id="rId1"/>
            </p:custDataLst>
          </p:nvPr>
        </p:nvGraphicFramePr>
        <p:xfrm>
          <a:off x="609600" y="1174750"/>
          <a:ext cx="5384800" cy="419100"/>
        </p:xfrm>
        <a:graphic>
          <a:graphicData uri="http://schemas.openxmlformats.org/drawingml/2006/table">
            <a:tbl>
              <a:tblPr/>
              <a:tblGrid>
                <a:gridCol w="5384800"/>
              </a:tblGrid>
              <a:tr h="419100">
                <a:tc>
                  <a:txBody>
                    <a:bodyPr/>
                    <a:p>
                      <a:pPr marL="7620" indent="0" algn="ctr" fontAlgn="b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Type of fixes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Text Box 9"/>
          <p:cNvSpPr txBox="1"/>
          <p:nvPr/>
        </p:nvSpPr>
        <p:spPr>
          <a:xfrm>
            <a:off x="3048000" y="2644775"/>
            <a:ext cx="609600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7620" indent="0" algn="ctr" fontAlgn="b">
              <a:buFont typeface="Wingdings" panose="05000000000000000000" charset="0"/>
              <a:buNone/>
            </a:pPr>
            <a:r>
              <a:rPr sz="2400">
                <a:solidFill>
                  <a:srgbClr val="000000"/>
                </a:solidFill>
                <a:latin typeface="Calibri" panose="020F0502020204030204"/>
                <a:ea typeface="Calibri" panose="020F0502020204030204"/>
                <a:sym typeface="+mn-ea"/>
              </a:rPr>
              <a:t>Single fixes</a:t>
            </a:r>
            <a:endParaRPr sz="2400" b="0" i="0">
              <a:solidFill>
                <a:srgbClr val="000000"/>
              </a:solidFill>
              <a:latin typeface="Calibri" panose="020F0502020204030204"/>
              <a:ea typeface="Calibri" panose="020F0502020204030204"/>
            </a:endParaRPr>
          </a:p>
          <a:p>
            <a:pPr marL="350520" indent="-342900" algn="ctr" fontAlgn="b">
              <a:buFont typeface="Wingdings" panose="05000000000000000000" charset="0"/>
              <a:buChar char="Ø"/>
            </a:pPr>
            <a:r>
              <a:rPr lang="en-US" sz="2400">
                <a:solidFill>
                  <a:srgbClr val="000000"/>
                </a:solidFill>
                <a:latin typeface="Calibri" panose="020F0502020204030204"/>
                <a:ea typeface="Calibri" panose="020F0502020204030204"/>
                <a:sym typeface="+mn-ea"/>
              </a:rPr>
              <a:t>              </a:t>
            </a:r>
            <a:r>
              <a:rPr sz="2400">
                <a:solidFill>
                  <a:srgbClr val="000000"/>
                </a:solidFill>
                <a:latin typeface="Calibri" panose="020F0502020204030204"/>
                <a:ea typeface="Calibri" panose="020F0502020204030204"/>
                <a:sym typeface="+mn-ea"/>
              </a:rPr>
              <a:t>Cumulative PTF packages</a:t>
            </a:r>
            <a:endParaRPr sz="2400" b="0" i="0">
              <a:solidFill>
                <a:srgbClr val="000000"/>
              </a:solidFill>
              <a:latin typeface="Calibri" panose="020F0502020204030204"/>
              <a:ea typeface="Calibri" panose="020F0502020204030204"/>
            </a:endParaRPr>
          </a:p>
          <a:p>
            <a:pPr marL="350520" indent="-342900" algn="ctr" fontAlgn="b">
              <a:buFont typeface="Wingdings" panose="05000000000000000000" charset="0"/>
              <a:buChar char="Ø"/>
            </a:pPr>
            <a:r>
              <a:rPr sz="2400">
                <a:solidFill>
                  <a:srgbClr val="000000"/>
                </a:solidFill>
                <a:latin typeface="Calibri" panose="020F0502020204030204"/>
                <a:ea typeface="Calibri" panose="020F0502020204030204"/>
                <a:sym typeface="+mn-ea"/>
              </a:rPr>
              <a:t>Fix groups</a:t>
            </a:r>
            <a:endParaRPr sz="2400" b="0" i="0">
              <a:solidFill>
                <a:srgbClr val="000000"/>
              </a:solidFill>
              <a:latin typeface="Calibri" panose="020F0502020204030204"/>
              <a:ea typeface="Calibri" panose="020F0502020204030204"/>
            </a:endParaRPr>
          </a:p>
          <a:p>
            <a:pPr marL="350520" indent="-342900" algn="ctr" fontAlgn="b">
              <a:buFont typeface="Wingdings" panose="05000000000000000000" charset="0"/>
              <a:buChar char="Ø"/>
            </a:pPr>
            <a:r>
              <a:rPr sz="2400">
                <a:solidFill>
                  <a:srgbClr val="000000"/>
                </a:solidFill>
                <a:latin typeface="Calibri" panose="020F0502020204030204"/>
                <a:ea typeface="Calibri" panose="020F0502020204030204"/>
                <a:sym typeface="+mn-ea"/>
              </a:rPr>
              <a:t>Service packs</a:t>
            </a:r>
            <a:endParaRPr lang="en-US" sz="2400">
              <a:solidFill>
                <a:srgbClr val="000000"/>
              </a:solidFill>
              <a:latin typeface="Calibri" panose="020F0502020204030204"/>
              <a:ea typeface="Calibri" panose="020F0502020204030204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378*33"/>
  <p:tag name="TABLE_ENDDRAG_RECT" val="48*92*378*33"/>
</p:tagLst>
</file>

<file path=ppt/theme/theme1.xml><?xml version="1.0" encoding="utf-8"?>
<a:theme xmlns:a="http://schemas.openxmlformats.org/drawingml/2006/main" name="Gear Drives">
  <a:themeElements>
    <a:clrScheme name="Gear Dri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5F5F5F"/>
      </a:accent1>
      <a:accent2>
        <a:srgbClr val="969696"/>
      </a:accent2>
      <a:accent3>
        <a:srgbClr val="FFFFFF"/>
      </a:accent3>
      <a:accent4>
        <a:srgbClr val="000000"/>
      </a:accent4>
      <a:accent5>
        <a:srgbClr val="B6B6B6"/>
      </a:accent5>
      <a:accent6>
        <a:srgbClr val="878787"/>
      </a:accent6>
      <a:hlink>
        <a:srgbClr val="CC3300"/>
      </a:hlink>
      <a:folHlink>
        <a:srgbClr val="996600"/>
      </a:folHlink>
    </a:clrScheme>
    <a:fontScheme name="Gear Dri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ear Dri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5F5F5F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B6B6B6"/>
        </a:accent5>
        <a:accent6>
          <a:srgbClr val="87878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1364</Words>
  <Application>WPS Presentation</Application>
  <PresentationFormat>Widescreen</PresentationFormat>
  <Paragraphs>80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5" baseType="lpstr">
      <vt:lpstr>Arial</vt:lpstr>
      <vt:lpstr>SimSun</vt:lpstr>
      <vt:lpstr>Wingdings</vt:lpstr>
      <vt:lpstr>Microsoft YaHei</vt:lpstr>
      <vt:lpstr>Arial Unicode MS</vt:lpstr>
      <vt:lpstr>Calibri</vt:lpstr>
      <vt:lpstr>Calibri</vt:lpstr>
      <vt:lpstr>Wingdings</vt:lpstr>
      <vt:lpstr>Gear Drives</vt:lpstr>
      <vt:lpstr>Volleyball Pitch </vt:lpstr>
      <vt:lpstr>Type of Volleyball courts</vt:lpstr>
      <vt:lpstr>PowerPoint 演示文稿</vt:lpstr>
      <vt:lpstr>double play court</vt:lpstr>
      <vt:lpstr>mixed play court</vt:lpstr>
      <vt:lpstr>26t*50sqrt Total area court design</vt:lpstr>
      <vt:lpstr>floor sand </vt:lpstr>
      <vt:lpstr>floor material volley ball court </vt:lpstr>
      <vt:lpstr>floor grass volley ball court design</vt:lpstr>
      <vt:lpstr>floor markers</vt:lpstr>
      <vt:lpstr>volley ball court Floor cleanups equipments </vt:lpstr>
      <vt:lpstr>Fencing design </vt:lpstr>
      <vt:lpstr>no.of polls</vt:lpstr>
      <vt:lpstr>position of polls</vt:lpstr>
      <vt:lpstr>Types of nets</vt:lpstr>
      <vt:lpstr>no of nets</vt:lpstr>
      <vt:lpstr>position of nets</vt:lpstr>
      <vt:lpstr>length of nets</vt:lpstr>
      <vt:lpstr>top roof for rain season</vt:lpstr>
      <vt:lpstr>cover items</vt:lpstr>
      <vt:lpstr>types of items</vt:lpstr>
      <vt:lpstr>Covering type flexible (open and close)</vt:lpstr>
      <vt:lpstr>Surronding water flow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Volleyball Pitch </dc:title>
  <dc:creator/>
  <cp:lastModifiedBy>hp</cp:lastModifiedBy>
  <cp:revision>8</cp:revision>
  <dcterms:created xsi:type="dcterms:W3CDTF">2024-06-07T19:29:00Z</dcterms:created>
  <dcterms:modified xsi:type="dcterms:W3CDTF">2024-06-15T07:27:41Z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23756CA0F60A493E96CFB02175399209_12</vt:lpwstr>
  </property>
  <property fmtid="{D5CDD505-2E9C-101B-9397-08002B2CF9AE}" pid="3" name="KSOProductBuildVer">
    <vt:lpwstr>1033-12.2.0.17119</vt:lpwstr>
  </property>
</Properties>
</file>