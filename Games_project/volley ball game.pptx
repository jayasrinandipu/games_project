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335" r:id="rId5"/>
    <p:sldId id="334" r:id="rId6"/>
    <p:sldId id="388" r:id="rId7"/>
    <p:sldId id="386" r:id="rId8"/>
    <p:sldId id="310" r:id="rId9"/>
    <p:sldId id="309" r:id="rId10"/>
    <p:sldId id="275" r:id="rId11"/>
    <p:sldId id="311" r:id="rId12"/>
    <p:sldId id="261" r:id="rId13"/>
    <p:sldId id="336" r:id="rId14"/>
    <p:sldId id="260" r:id="rId15"/>
    <p:sldId id="331" r:id="rId16"/>
    <p:sldId id="294" r:id="rId17"/>
    <p:sldId id="259" r:id="rId18"/>
    <p:sldId id="296" r:id="rId19"/>
    <p:sldId id="360" r:id="rId20"/>
    <p:sldId id="361" r:id="rId21"/>
    <p:sldId id="283" r:id="rId22"/>
    <p:sldId id="284" r:id="rId23"/>
    <p:sldId id="365" r:id="rId24"/>
    <p:sldId id="285" r:id="rId25"/>
    <p:sldId id="384" r:id="rId26"/>
    <p:sldId id="385" r:id="rId27"/>
    <p:sldId id="379" r:id="rId28"/>
    <p:sldId id="380" r:id="rId29"/>
    <p:sldId id="368" r:id="rId30"/>
    <p:sldId id="382" r:id="rId31"/>
    <p:sldId id="38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CCE8"/>
    <a:srgbClr val="FD93F7"/>
    <a:srgbClr val="EBFEB8"/>
    <a:srgbClr val="C3FDFE"/>
    <a:srgbClr val="B5B0F9"/>
    <a:srgbClr val="FEC2FC"/>
    <a:srgbClr val="FCC9FD"/>
    <a:srgbClr val="900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5.jpeg"/><Relationship Id="rId2" Type="http://schemas.openxmlformats.org/officeDocument/2006/relationships/tags" Target="../tags/tag2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7.png"/><Relationship Id="rId3" Type="http://schemas.openxmlformats.org/officeDocument/2006/relationships/tags" Target="../tags/tag13.xml"/><Relationship Id="rId2" Type="http://schemas.openxmlformats.org/officeDocument/2006/relationships/image" Target="../media/image26.png"/><Relationship Id="rId1" Type="http://schemas.openxmlformats.org/officeDocument/2006/relationships/tags" Target="../tags/tag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5910" y="-158750"/>
            <a:ext cx="7150100" cy="101473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Volleyball Pitch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7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0" y="855980"/>
            <a:ext cx="10721340" cy="5778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422275"/>
            <a:ext cx="10972800" cy="1634490"/>
          </a:xfrm>
        </p:spPr>
        <p:txBody>
          <a:bodyPr/>
          <a:p>
            <a:pPr algn="ctr"/>
            <a:r>
              <a:rPr lang="en-US">
                <a:ln w="9525" cmpd="sng">
                  <a:solidFill>
                    <a:srgbClr val="FF0000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Type of Volleyball courts</a:t>
            </a:r>
            <a:endParaRPr lang="en-US">
              <a:ln w="9525" cmpd="sng">
                <a:solidFill>
                  <a:srgbClr val="FF0000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sz="2000" i="1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i="1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i="1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i="1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There are two types of volley ball courts:--</a:t>
            </a:r>
            <a:endParaRPr lang="en-US">
              <a:solidFill>
                <a:srgbClr val="0070C0"/>
              </a:solidFill>
            </a:endParaRPr>
          </a:p>
          <a:p>
            <a:pPr algn="l">
              <a:buClrTx/>
              <a:buSzTx/>
              <a:buFontTx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1. Indoor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2.Outdoor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Indoor Volley ball </a:t>
            </a:r>
            <a:endParaRPr 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 defTabSz="914400" fontAlgn="auto">
              <a:lnSpc>
                <a:spcPct val="14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Uses of indoor volleyball: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--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Structured Team Play</a:t>
            </a:r>
            <a:endParaRPr lang="en-US" sz="2400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Faster Ball Movement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Consistent Environment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Diverse Play Styles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Safety and Comfort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Content Placeholder 7" descr="istockphoto-1401595610-612x61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291965" y="1515745"/>
            <a:ext cx="7530465" cy="4756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Outdoor Volley ball Court</a:t>
            </a:r>
            <a:endParaRPr lang="en-US"/>
          </a:p>
        </p:txBody>
      </p:sp>
      <p:pic>
        <p:nvPicPr>
          <p:cNvPr id="3" name="Content Placeholder 2" descr="outdoor-volleyball-court-flooring-service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184775" y="1175385"/>
            <a:ext cx="6397625" cy="4589780"/>
          </a:xfrm>
          <a:prstGeom prst="rect">
            <a:avLst/>
          </a:prstGeom>
        </p:spPr>
      </p:pic>
      <p:sp>
        <p:nvSpPr>
          <p:cNvPr id="4" name="Content Placeholder 3"/>
          <p:cNvSpPr/>
          <p:nvPr>
            <p:ph sz="half" idx="1"/>
          </p:nvPr>
        </p:nvSpPr>
        <p:spPr>
          <a:xfrm>
            <a:off x="503555" y="1174750"/>
            <a:ext cx="4497070" cy="4953000"/>
          </a:xfrm>
        </p:spPr>
        <p:txBody>
          <a:bodyPr/>
          <a:p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Uses of outdoor volleyball:</a:t>
            </a:r>
            <a:r>
              <a:rPr lang="en-US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--</a:t>
            </a:r>
            <a:endParaRPr lang="en-US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 Full-Body Workout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Enhanced Agility and Balance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Natural Environment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 defTabSz="914400" fontAlgn="auto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Improves Hand-Eye Coordination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11125"/>
            <a:ext cx="10972800" cy="749935"/>
          </a:xfrm>
        </p:spPr>
        <p:txBody>
          <a:bodyPr/>
          <a:p>
            <a:pPr algn="ctr"/>
            <a:r>
              <a:rPr lang="en-US" b="1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Design 50*26 feet Volleyball Court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480" y="861060"/>
            <a:ext cx="5709920" cy="565213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p>
            <a:pPr algn="l">
              <a:lnSpc>
                <a:spcPct val="60000"/>
              </a:lnSpc>
              <a:buClrTx/>
              <a:buSzTx/>
              <a:buFontTx/>
            </a:pPr>
            <a:endParaRPr lang="en-US" sz="2000" b="1" i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60000"/>
              </a:lnSpc>
              <a:buClrTx/>
              <a:buSzTx/>
              <a:buFont typeface="Wingdings" panose="05000000000000000000" charset="0"/>
              <a:buChar char="Ø"/>
            </a:pP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60000"/>
              </a:lnSpc>
              <a:buClrTx/>
              <a:buSzTx/>
              <a:buFont typeface="Wingdings" panose="05000000000000000000" charset="0"/>
              <a:buChar char="Ø"/>
            </a:pP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6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Court Dimensions:--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 Length: 50 feet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0" lvl="5" indent="0" algn="l">
              <a:lnSpc>
                <a:spcPct val="6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  Width: 26 feet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0" lvl="5" indent="0" algn="l">
              <a:lnSpc>
                <a:spcPct val="60000"/>
              </a:lnSpc>
              <a:buClrTx/>
              <a:buSzTx/>
              <a:buFont typeface="Wingdings" panose="05000000000000000000" charset="0"/>
              <a:buNone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lvl="5" indent="-342900" algn="l" fontAlgn="base">
              <a:lnSpc>
                <a:spcPct val="6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Ø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Net:-- 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1.Height: 7 feet 4 inches (2.24 mtr)(men's 	competition) or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 algn="l">
              <a:lnSpc>
                <a:spcPct val="7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7 feet (2.13mtr)(women's competition)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800100" lvl="2" indent="0" algn="l">
              <a:lnSpc>
                <a:spcPct val="7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 2.Width: 3 feet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800100" lvl="2" indent="0" algn="l">
              <a:lnSpc>
                <a:spcPct val="70000"/>
              </a:lnSpc>
              <a:buClrTx/>
              <a:buSzTx/>
              <a:buFont typeface="Wingdings" panose="05000000000000000000" charset="0"/>
              <a:buNone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Position: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 Centered on the court, dividing it into two halves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  <a:buClrTx/>
              <a:buSzTx/>
              <a:buFontTx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6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Baselines:</a:t>
            </a: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ct val="60000"/>
              </a:lnSpc>
              <a:buClrTx/>
              <a:buSzTx/>
              <a:buFont typeface="Wingdings" panose="05000000000000000000" charset="0"/>
              <a:buNone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7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 Length:  17 feet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7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 Width: 3 inches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7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 Position: Along the width of the court, marking the out-of-bounds area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60000"/>
              </a:lnSpc>
              <a:buClrTx/>
              <a:buSzTx/>
              <a:buFontTx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60000"/>
              </a:lnSpc>
              <a:buClrTx/>
              <a:buSzTx/>
              <a:buFontTx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630035" y="1023620"/>
            <a:ext cx="5297805" cy="5490210"/>
          </a:xfrm>
        </p:spPr>
        <p:txBody>
          <a:bodyPr/>
          <a:p>
            <a:pPr marL="457200" indent="-457200" algn="l">
              <a:lnSpc>
                <a:spcPct val="60000"/>
              </a:lnSpc>
              <a:buClrTx/>
              <a:buSzTx/>
              <a:buFont typeface="+mj-lt"/>
              <a:buAutoNum type="romanL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70000"/>
              </a:lnSpc>
              <a:buClrTx/>
              <a:buSzTx/>
              <a:buFont typeface="+mj-lt"/>
              <a:buAutoNum type="romanL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Sitting Area:--</a:t>
            </a: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7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 Length: 8 feet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7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 Width: 6 feet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60000"/>
              </a:lnSpc>
              <a:buClrTx/>
              <a:buSzTx/>
              <a:buFontTx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60000"/>
              </a:lnSpc>
              <a:buClrTx/>
              <a:buSzTx/>
              <a:buFontTx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 typeface="Wingdings" panose="05000000000000000000" charset="0"/>
              <a:buChar char="Ø"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Washroom:--</a:t>
            </a:r>
            <a:endParaRPr lang="en-US" sz="2000"/>
          </a:p>
          <a:p>
            <a:pPr algn="l">
              <a:buClrTx/>
              <a:buSzTx/>
              <a:buFontTx/>
            </a:pPr>
            <a:r>
              <a:rPr lang="en-US" sz="2000">
                <a:sym typeface="+mn-ea"/>
              </a:rPr>
              <a:t>- 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Length: 8 feet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 Width: 10 feet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ClrTx/>
              <a:buSzTx/>
              <a:buFontTx/>
              <a:buNone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 typeface="Wingdings" panose="05000000000000000000" charset="0"/>
              <a:buChar char="Ø"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Cafeteria:--</a:t>
            </a: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 Length: 8 feet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- Width: 10 feet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147695" y="635"/>
            <a:ext cx="5848350" cy="6470650"/>
          </a:xfrm>
          <a:prstGeom prst="rect">
            <a:avLst/>
          </a:prstGeom>
          <a:solidFill>
            <a:schemeClr val="accent4">
              <a:lumMod val="95000"/>
              <a:lumOff val="5000"/>
            </a:schemeClr>
          </a:solidFill>
          <a:ln w="9525" cap="flat" cmpd="sng" algn="ctr"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3239135" y="325120"/>
            <a:ext cx="5661660" cy="6061710"/>
          </a:xfrm>
          <a:prstGeom prst="rect">
            <a:avLst/>
          </a:prstGeom>
          <a:solidFill>
            <a:srgbClr val="EBFEB8"/>
          </a:solidFill>
          <a:ln w="1905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234180" y="887730"/>
            <a:ext cx="3423920" cy="4109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783830" y="906145"/>
            <a:ext cx="9525" cy="40798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12" name="Straight Arrow Connector 11"/>
          <p:cNvCxnSpPr/>
          <p:nvPr/>
        </p:nvCxnSpPr>
        <p:spPr>
          <a:xfrm>
            <a:off x="7919085" y="939800"/>
            <a:ext cx="19050" cy="201104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13" name="Straight Arrow Connector 12"/>
          <p:cNvCxnSpPr/>
          <p:nvPr/>
        </p:nvCxnSpPr>
        <p:spPr>
          <a:xfrm flipH="1">
            <a:off x="6414135" y="2403475"/>
            <a:ext cx="10160" cy="60325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14" name="Straight Arrow Connector 13"/>
          <p:cNvCxnSpPr/>
          <p:nvPr/>
        </p:nvCxnSpPr>
        <p:spPr>
          <a:xfrm>
            <a:off x="4036060" y="870585"/>
            <a:ext cx="0" cy="150368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16" name="Straight Arrow Connector 15"/>
          <p:cNvCxnSpPr/>
          <p:nvPr/>
        </p:nvCxnSpPr>
        <p:spPr>
          <a:xfrm>
            <a:off x="4217670" y="755650"/>
            <a:ext cx="3438525" cy="952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17" name="Rectangles 16"/>
          <p:cNvSpPr/>
          <p:nvPr/>
        </p:nvSpPr>
        <p:spPr>
          <a:xfrm>
            <a:off x="4272280" y="5352415"/>
            <a:ext cx="839470" cy="690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0" i="1" u="none" strike="noStrike" cap="none" normalizeH="0" baseline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Cafeteria</a:t>
            </a:r>
            <a:endParaRPr kumimoji="0" lang="en-US" altLang="zh-CN" sz="1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6804025" y="5401310"/>
            <a:ext cx="890905" cy="641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0" i="1" u="none" strike="noStrike" cap="none" normalizeH="0" baseline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washroom</a:t>
            </a:r>
            <a:endParaRPr kumimoji="0" lang="en-US" altLang="zh-CN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5473700" y="5391150"/>
            <a:ext cx="1118870" cy="680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  </a:t>
            </a:r>
            <a:r>
              <a:rPr kumimoji="0" lang="en-US" sz="1200" b="0" i="1" u="none" strike="noStrike" cap="none" normalizeH="0" baseline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Benches</a:t>
            </a:r>
            <a:endParaRPr kumimoji="0" lang="en-US" altLang="zh-CN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7889875" y="5420360"/>
            <a:ext cx="9525" cy="60769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21" name="Straight Arrow Connector 20"/>
          <p:cNvCxnSpPr/>
          <p:nvPr/>
        </p:nvCxnSpPr>
        <p:spPr>
          <a:xfrm>
            <a:off x="6823075" y="6186805"/>
            <a:ext cx="842645" cy="1905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22" name="Straight Arrow Connector 21"/>
          <p:cNvCxnSpPr/>
          <p:nvPr/>
        </p:nvCxnSpPr>
        <p:spPr>
          <a:xfrm>
            <a:off x="5472430" y="6157595"/>
            <a:ext cx="1120775" cy="952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23" name="Straight Arrow Connector 22"/>
          <p:cNvCxnSpPr/>
          <p:nvPr/>
        </p:nvCxnSpPr>
        <p:spPr>
          <a:xfrm>
            <a:off x="4265930" y="6157595"/>
            <a:ext cx="833120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24" name="Straight Arrow Connector 23"/>
          <p:cNvCxnSpPr/>
          <p:nvPr/>
        </p:nvCxnSpPr>
        <p:spPr>
          <a:xfrm>
            <a:off x="4045585" y="5334000"/>
            <a:ext cx="0" cy="70866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25" name="Straight Arrow Connector 24"/>
          <p:cNvCxnSpPr/>
          <p:nvPr/>
        </p:nvCxnSpPr>
        <p:spPr>
          <a:xfrm flipH="1">
            <a:off x="5381625" y="5381625"/>
            <a:ext cx="9525" cy="66548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26" name="Straight Arrow Connector 25"/>
          <p:cNvCxnSpPr/>
          <p:nvPr/>
        </p:nvCxnSpPr>
        <p:spPr>
          <a:xfrm>
            <a:off x="5948045" y="5017770"/>
            <a:ext cx="19050" cy="38354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46" name="Text Box 45"/>
          <p:cNvSpPr txBox="1"/>
          <p:nvPr/>
        </p:nvSpPr>
        <p:spPr>
          <a:xfrm>
            <a:off x="5574665" y="554990"/>
            <a:ext cx="443865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/>
              <a:t>24 ft</a:t>
            </a:r>
            <a:endParaRPr lang="en-US" sz="1000"/>
          </a:p>
        </p:txBody>
      </p:sp>
      <p:sp>
        <p:nvSpPr>
          <p:cNvPr id="49" name="Text Box 48"/>
          <p:cNvSpPr txBox="1"/>
          <p:nvPr/>
        </p:nvSpPr>
        <p:spPr>
          <a:xfrm>
            <a:off x="6076315" y="2469515"/>
            <a:ext cx="10521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3 feet</a:t>
            </a:r>
            <a:endParaRPr lang="en-US" sz="1000"/>
          </a:p>
        </p:txBody>
      </p:sp>
      <p:sp>
        <p:nvSpPr>
          <p:cNvPr id="51" name="Text Box 50"/>
          <p:cNvSpPr txBox="1"/>
          <p:nvPr/>
        </p:nvSpPr>
        <p:spPr>
          <a:xfrm>
            <a:off x="5127625" y="5043805"/>
            <a:ext cx="13633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1 ft free space</a:t>
            </a:r>
            <a:endParaRPr lang="en-US" sz="1000"/>
          </a:p>
        </p:txBody>
      </p:sp>
      <p:sp>
        <p:nvSpPr>
          <p:cNvPr id="52" name="Text Box 51"/>
          <p:cNvSpPr txBox="1"/>
          <p:nvPr/>
        </p:nvSpPr>
        <p:spPr>
          <a:xfrm>
            <a:off x="7889875" y="5516880"/>
            <a:ext cx="3879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8 ft</a:t>
            </a:r>
            <a:endParaRPr lang="en-US" sz="1000"/>
          </a:p>
        </p:txBody>
      </p:sp>
      <p:sp>
        <p:nvSpPr>
          <p:cNvPr id="53" name="Text Box 52"/>
          <p:cNvSpPr txBox="1"/>
          <p:nvPr/>
        </p:nvSpPr>
        <p:spPr>
          <a:xfrm>
            <a:off x="3808095" y="5372100"/>
            <a:ext cx="3683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8 ft</a:t>
            </a:r>
            <a:endParaRPr lang="en-US"/>
          </a:p>
        </p:txBody>
      </p:sp>
      <p:sp>
        <p:nvSpPr>
          <p:cNvPr id="54" name="Text Box 53"/>
          <p:cNvSpPr txBox="1"/>
          <p:nvPr/>
        </p:nvSpPr>
        <p:spPr>
          <a:xfrm>
            <a:off x="4462145" y="6134100"/>
            <a:ext cx="559435" cy="200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/>
              <a:t>10 ft</a:t>
            </a:r>
            <a:endParaRPr lang="en-US" sz="1000"/>
          </a:p>
        </p:txBody>
      </p:sp>
      <p:sp>
        <p:nvSpPr>
          <p:cNvPr id="56" name="Text Box 55"/>
          <p:cNvSpPr txBox="1"/>
          <p:nvPr/>
        </p:nvSpPr>
        <p:spPr>
          <a:xfrm>
            <a:off x="7069455" y="6028055"/>
            <a:ext cx="549910" cy="196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/>
              <a:t>10ft</a:t>
            </a:r>
            <a:endParaRPr lang="en-US" sz="1000"/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3585845" y="880110"/>
            <a:ext cx="60960" cy="517969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60" name="Text Box 59"/>
          <p:cNvSpPr txBox="1"/>
          <p:nvPr/>
        </p:nvSpPr>
        <p:spPr>
          <a:xfrm>
            <a:off x="3317875" y="2545715"/>
            <a:ext cx="4965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50 ft</a:t>
            </a:r>
            <a:endParaRPr lang="en-US" sz="1000"/>
          </a:p>
        </p:txBody>
      </p:sp>
      <p:sp>
        <p:nvSpPr>
          <p:cNvPr id="61" name="Text Box 60"/>
          <p:cNvSpPr txBox="1"/>
          <p:nvPr/>
        </p:nvSpPr>
        <p:spPr>
          <a:xfrm>
            <a:off x="3586480" y="635"/>
            <a:ext cx="4691380" cy="3816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26*50 ft Volleyball Court Design</a:t>
            </a:r>
            <a:endParaRPr lang="en-US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2" name="Text Box 61"/>
          <p:cNvSpPr txBox="1"/>
          <p:nvPr/>
        </p:nvSpPr>
        <p:spPr>
          <a:xfrm>
            <a:off x="5641975" y="6134100"/>
            <a:ext cx="5886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6 ft</a:t>
            </a:r>
            <a:endParaRPr lang="en-US" sz="1000"/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6794500" y="5123180"/>
            <a:ext cx="880745" cy="635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64" name="Text Box 63"/>
          <p:cNvSpPr txBox="1"/>
          <p:nvPr/>
        </p:nvSpPr>
        <p:spPr>
          <a:xfrm>
            <a:off x="6717030" y="5129530"/>
            <a:ext cx="13754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i="1">
                <a:latin typeface="Times New Roman" panose="02020603050405020304" charset="0"/>
                <a:cs typeface="Times New Roman" panose="02020603050405020304" charset="0"/>
              </a:rPr>
              <a:t>3 ft service line</a:t>
            </a:r>
            <a:endParaRPr lang="en-US" sz="12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5" name="Straight Arrow Connector 64"/>
          <p:cNvCxnSpPr>
            <a:stCxn id="7" idx="1"/>
          </p:cNvCxnSpPr>
          <p:nvPr/>
        </p:nvCxnSpPr>
        <p:spPr>
          <a:xfrm flipH="1">
            <a:off x="3905885" y="2942590"/>
            <a:ext cx="328295" cy="825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68" name="Text Box 67"/>
          <p:cNvSpPr txBox="1"/>
          <p:nvPr/>
        </p:nvSpPr>
        <p:spPr>
          <a:xfrm>
            <a:off x="3658870" y="3006725"/>
            <a:ext cx="4978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1200"/>
              <a:t>1 ft</a:t>
            </a:r>
            <a:endParaRPr lang="en-US" sz="1200"/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7648575" y="4504055"/>
            <a:ext cx="443865" cy="1905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2" name="Straight Connector 1"/>
          <p:cNvCxnSpPr/>
          <p:nvPr/>
        </p:nvCxnSpPr>
        <p:spPr>
          <a:xfrm>
            <a:off x="8082280" y="4340225"/>
            <a:ext cx="10160" cy="32766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7618730" y="4272280"/>
            <a:ext cx="10229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1 ft free space</a:t>
            </a:r>
            <a:endParaRPr lang="en-US" sz="100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8068310" y="391795"/>
            <a:ext cx="9525" cy="424307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Straight Arrow Connector 14"/>
          <p:cNvCxnSpPr/>
          <p:nvPr/>
        </p:nvCxnSpPr>
        <p:spPr>
          <a:xfrm flipV="1">
            <a:off x="3910965" y="516255"/>
            <a:ext cx="4185920" cy="381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27" name="Text Box 26"/>
          <p:cNvSpPr txBox="1"/>
          <p:nvPr/>
        </p:nvSpPr>
        <p:spPr>
          <a:xfrm>
            <a:off x="6414135" y="324485"/>
            <a:ext cx="578485" cy="229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/>
              <a:t>26 ft</a:t>
            </a:r>
            <a:endParaRPr lang="en-US" sz="1000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7248525" y="516255"/>
            <a:ext cx="2540" cy="34036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28" name="Text Box 27"/>
          <p:cNvSpPr txBox="1"/>
          <p:nvPr/>
        </p:nvSpPr>
        <p:spPr>
          <a:xfrm>
            <a:off x="5021580" y="3173730"/>
            <a:ext cx="1571625" cy="50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Attack line</a:t>
            </a:r>
            <a:endParaRPr lang="en-US" sz="2000" i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5224780" y="4686935"/>
            <a:ext cx="1979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Service line</a:t>
            </a:r>
            <a:endParaRPr lang="en-US" sz="2000" i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5034280" y="2622550"/>
            <a:ext cx="157226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Center line</a:t>
            </a:r>
            <a:endParaRPr lang="en-US" sz="2000" i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4265930" y="2416175"/>
            <a:ext cx="3382645" cy="1206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Straight Connector 34"/>
          <p:cNvCxnSpPr/>
          <p:nvPr/>
        </p:nvCxnSpPr>
        <p:spPr>
          <a:xfrm flipV="1">
            <a:off x="4255770" y="2964180"/>
            <a:ext cx="3362325" cy="1016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Straight Connector 35"/>
          <p:cNvCxnSpPr/>
          <p:nvPr/>
        </p:nvCxnSpPr>
        <p:spPr>
          <a:xfrm flipV="1">
            <a:off x="4208145" y="3481070"/>
            <a:ext cx="3430905" cy="444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Text Box 39"/>
          <p:cNvSpPr txBox="1"/>
          <p:nvPr/>
        </p:nvSpPr>
        <p:spPr>
          <a:xfrm>
            <a:off x="3855720" y="998220"/>
            <a:ext cx="417195" cy="81978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en-US" sz="1200"/>
              <a:t>17 feet</a:t>
            </a:r>
            <a:endParaRPr lang="en-US" sz="1200"/>
          </a:p>
        </p:txBody>
      </p:sp>
      <p:sp>
        <p:nvSpPr>
          <p:cNvPr id="41" name="Text Box 40"/>
          <p:cNvSpPr txBox="1"/>
          <p:nvPr/>
        </p:nvSpPr>
        <p:spPr>
          <a:xfrm>
            <a:off x="7637145" y="3052445"/>
            <a:ext cx="431800" cy="7912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en-US" sz="1200"/>
              <a:t>40 feet</a:t>
            </a:r>
            <a:endParaRPr lang="en-US" sz="1200"/>
          </a:p>
        </p:txBody>
      </p:sp>
      <p:sp>
        <p:nvSpPr>
          <p:cNvPr id="42" name="Text Box 41"/>
          <p:cNvSpPr txBox="1"/>
          <p:nvPr/>
        </p:nvSpPr>
        <p:spPr>
          <a:xfrm>
            <a:off x="7724140" y="1296670"/>
            <a:ext cx="462915" cy="84899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en-US" sz="1200"/>
              <a:t>20 feet</a:t>
            </a:r>
            <a:endParaRPr lang="en-US" sz="1200"/>
          </a:p>
        </p:txBody>
      </p:sp>
      <p:sp>
        <p:nvSpPr>
          <p:cNvPr id="43" name="Text Box 42"/>
          <p:cNvSpPr txBox="1"/>
          <p:nvPr/>
        </p:nvSpPr>
        <p:spPr>
          <a:xfrm>
            <a:off x="5224780" y="5516245"/>
            <a:ext cx="247650" cy="42037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en-US" sz="1200"/>
              <a:t>8 ft</a:t>
            </a:r>
            <a:endParaRPr lang="en-US" sz="1200"/>
          </a:p>
        </p:txBody>
      </p:sp>
      <p:cxnSp>
        <p:nvCxnSpPr>
          <p:cNvPr id="44" name="Straight Connector 43"/>
          <p:cNvCxnSpPr/>
          <p:nvPr/>
        </p:nvCxnSpPr>
        <p:spPr>
          <a:xfrm>
            <a:off x="4214495" y="448310"/>
            <a:ext cx="0" cy="443865"/>
          </a:xfrm>
          <a:prstGeom prst="line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4851400" y="435610"/>
            <a:ext cx="8255" cy="408305"/>
          </a:xfrm>
          <a:prstGeom prst="line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Text Box 46"/>
          <p:cNvSpPr txBox="1"/>
          <p:nvPr/>
        </p:nvSpPr>
        <p:spPr>
          <a:xfrm>
            <a:off x="4045585" y="297815"/>
            <a:ext cx="1426845" cy="256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3 ft service line</a:t>
            </a:r>
            <a:endParaRPr lang="en-US" sz="1200" i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200"/>
          </a:p>
        </p:txBody>
      </p:sp>
      <p:sp>
        <p:nvSpPr>
          <p:cNvPr id="55" name="Text Box 54"/>
          <p:cNvSpPr txBox="1"/>
          <p:nvPr/>
        </p:nvSpPr>
        <p:spPr>
          <a:xfrm>
            <a:off x="6605905" y="544830"/>
            <a:ext cx="13328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1 ft free space</a:t>
            </a:r>
            <a:endParaRPr lang="en-US" sz="1200"/>
          </a:p>
        </p:txBody>
      </p:sp>
      <p:cxnSp>
        <p:nvCxnSpPr>
          <p:cNvPr id="66" name="Straight Connector 65"/>
          <p:cNvCxnSpPr>
            <a:endCxn id="68" idx="0"/>
          </p:cNvCxnSpPr>
          <p:nvPr/>
        </p:nvCxnSpPr>
        <p:spPr>
          <a:xfrm>
            <a:off x="3901440" y="445135"/>
            <a:ext cx="6350" cy="256159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Floor sand </a:t>
            </a:r>
            <a:endParaRPr 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4" name="Content Placeholder 3" descr="beach-volley-volleyball-playing-field-beach-volleyball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380480" y="1633220"/>
            <a:ext cx="5384800" cy="3591560"/>
          </a:xfrm>
          <a:prstGeom prst="rect">
            <a:avLst/>
          </a:prstGeom>
        </p:spPr>
      </p:pic>
      <p:pic>
        <p:nvPicPr>
          <p:cNvPr id="3" name="Content Placeholder 2" descr="beach-volley-volleyball-playing-field-beach-volleyball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3614420" y="1337945"/>
            <a:ext cx="8235950" cy="47885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10185" y="1633220"/>
            <a:ext cx="4849495" cy="3932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sz="2400" b="1" i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--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Soft Landing Surface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Low Impact on Joins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Beach Experience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40000"/>
              </a:lnSpc>
              <a:buClrTx/>
              <a:buSzTx/>
              <a:buFontTx/>
              <a:buNone/>
            </a:pPr>
            <a:r>
              <a:rPr lang="en-US" sz="24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Disadvantages:--</a:t>
            </a:r>
            <a:endParaRPr lang="en-US" sz="24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High Maintenance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Weather Dependency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140000"/>
              </a:lnSpc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Accessibility Issues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Floor Material Volley ball Court </a:t>
            </a:r>
            <a:endParaRPr lang="en-US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pic>
        <p:nvPicPr>
          <p:cNvPr id="4" name="Content Placeholder 3" descr="floor material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3853815" y="1254760"/>
            <a:ext cx="7728585" cy="4722495"/>
          </a:xfrm>
          <a:prstGeom prst="rect">
            <a:avLst/>
          </a:prstGeom>
        </p:spPr>
      </p:pic>
      <p:sp>
        <p:nvSpPr>
          <p:cNvPr id="5" name="Content Placeholder 4"/>
          <p:cNvSpPr/>
          <p:nvPr>
            <p:ph sz="half" idx="1"/>
          </p:nvPr>
        </p:nvSpPr>
        <p:spPr>
          <a:xfrm>
            <a:off x="445770" y="1174750"/>
            <a:ext cx="5066665" cy="4953000"/>
          </a:xfrm>
        </p:spPr>
        <p:txBody>
          <a:bodyPr/>
          <a:p>
            <a:endParaRPr lang="en-US" sz="24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r>
              <a:rPr lang="en-US" sz="2400" i="1">
                <a:latin typeface="Times New Roman" panose="02020603050405020304" charset="0"/>
                <a:cs typeface="Times New Roman" panose="02020603050405020304" charset="0"/>
              </a:rPr>
              <a:t>:--</a:t>
            </a:r>
            <a:endParaRPr lang="en-US" sz="24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Durability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Low Maintenance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All-Weather Use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4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Disadvantages</a:t>
            </a:r>
            <a:r>
              <a:rPr lang="en-US" sz="2400" i="1">
                <a:latin typeface="Times New Roman" panose="02020603050405020304" charset="0"/>
                <a:cs typeface="Times New Roman" panose="02020603050405020304" charset="0"/>
              </a:rPr>
              <a:t>:--</a:t>
            </a:r>
            <a:endParaRPr lang="en-US" sz="2400"/>
          </a:p>
          <a:p>
            <a:pPr marL="514350" indent="-514350"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Higher Initial Cost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Heat Retention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Less Natural Feel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2700">
                  <a:solidFill>
                    <a:srgbClr val="EBCCE8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Floor Grass volley ball Court Design</a:t>
            </a:r>
            <a:endParaRPr lang="en-US">
              <a:ln w="12700">
                <a:solidFill>
                  <a:srgbClr val="EBCCE8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6" name="Content Placeholder 2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84675" y="1328420"/>
            <a:ext cx="7197725" cy="47993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Content Placeholder 6"/>
          <p:cNvSpPr/>
          <p:nvPr>
            <p:ph sz="half" idx="1"/>
          </p:nvPr>
        </p:nvSpPr>
        <p:spPr>
          <a:xfrm>
            <a:off x="397510" y="1174750"/>
            <a:ext cx="5596890" cy="4953000"/>
          </a:xfrm>
        </p:spPr>
        <p:txBody>
          <a:bodyPr/>
          <a:p>
            <a:r>
              <a:rPr lang="en-US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Advantages</a:t>
            </a:r>
            <a:r>
              <a:rPr lang="en-US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:--</a:t>
            </a:r>
            <a:endParaRPr lang="en-US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Natural Aesthetic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Cooling Effect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Multipurpose Use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endParaRPr lang="en-US" sz="24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Disadvantages</a:t>
            </a:r>
            <a:r>
              <a:rPr lang="en-US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:--</a:t>
            </a:r>
            <a:endParaRPr lang="en-US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High Maintenance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Uneven Surface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U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High Maintenance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5875">
                  <a:solidFill>
                    <a:srgbClr val="00B0F0"/>
                  </a:solidFill>
                </a:ln>
                <a:gradFill>
                  <a:gsLst>
                    <a:gs pos="0">
                      <a:schemeClr val="accent1">
                        <a:lumOff val="-19992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2"/>
                      </a:schemeClr>
                    </a:gs>
                  </a:gsLst>
                  <a:lin ang="0" scaled="0"/>
                </a:gradFill>
                <a:effectLst/>
              </a:rPr>
              <a:t>Floor Markers</a:t>
            </a:r>
            <a:endParaRPr lang="en-US">
              <a:ln w="15875">
                <a:solidFill>
                  <a:srgbClr val="00B0F0"/>
                </a:solidFill>
              </a:ln>
              <a:gradFill>
                <a:gsLst>
                  <a:gs pos="0">
                    <a:schemeClr val="accent1">
                      <a:lumOff val="-19992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2"/>
                    </a:schemeClr>
                  </a:gs>
                </a:gsLst>
                <a:lin ang="0" scaled="0"/>
              </a:gradFill>
              <a:effectLst/>
            </a:endParaRPr>
          </a:p>
        </p:txBody>
      </p:sp>
      <p:pic>
        <p:nvPicPr>
          <p:cNvPr id="4" name="Content Placeholder 3" descr="floor marker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09140" y="1825625"/>
            <a:ext cx="70929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Volley ball court Floor Cleanup Equipments </a:t>
            </a:r>
            <a:endParaRPr lang="en-US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10235" y="1538605"/>
            <a:ext cx="4648835" cy="459105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2"/>
        </p:blipFill>
        <p:spPr>
          <a:xfrm>
            <a:off x="6095365" y="1471295"/>
            <a:ext cx="5267325" cy="4658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sym typeface="+mn-ea"/>
              </a:rPr>
              <a:t>Fencing Design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4537710"/>
          </a:xfrm>
        </p:spPr>
        <p:txBody>
          <a:bodyPr/>
          <a:p>
            <a:r>
              <a:rPr lang="en-US" sz="36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Types of polls</a:t>
            </a:r>
            <a:r>
              <a:rPr lang="en-US" sz="3600">
                <a:sym typeface="+mn-ea"/>
              </a:rPr>
              <a:t>:--</a:t>
            </a:r>
            <a:endParaRPr lang="en-US" sz="3600">
              <a:sym typeface="+mn-ea"/>
            </a:endParaRPr>
          </a:p>
          <a:p>
            <a:pPr marL="0" indent="0">
              <a:buNone/>
            </a:pPr>
            <a:endParaRPr lang="en-US" sz="3600">
              <a:sym typeface="+mn-ea"/>
            </a:endParaRPr>
          </a:p>
          <a:p>
            <a:endParaRPr lang="en-US" sz="3600">
              <a:sym typeface="+mn-ea"/>
            </a:endParaRPr>
          </a:p>
          <a:p>
            <a:pPr>
              <a:lnSpc>
                <a:spcPct val="40000"/>
              </a:lnSpc>
              <a:buFont typeface="Wingdings" panose="05000000000000000000" charset="0"/>
              <a:buChar char="ü"/>
            </a:pPr>
            <a:r>
              <a:rPr lang="en-US">
                <a:sym typeface="+mn-ea"/>
              </a:rPr>
              <a:t>INDOOR VOLLEYBALL POLES </a:t>
            </a:r>
            <a:endParaRPr lang="en-US"/>
          </a:p>
          <a:p>
            <a:pPr marL="0" indent="0">
              <a:lnSpc>
                <a:spcPct val="40000"/>
              </a:lnSpc>
              <a:buFont typeface="Wingdings" panose="05000000000000000000" charset="0"/>
              <a:buNone/>
            </a:pPr>
            <a:endParaRPr lang="en-US">
              <a:sym typeface="+mn-ea"/>
            </a:endParaRPr>
          </a:p>
          <a:p>
            <a:pPr>
              <a:lnSpc>
                <a:spcPct val="40000"/>
              </a:lnSpc>
              <a:buFont typeface="Wingdings" panose="05000000000000000000" charset="0"/>
              <a:buChar char="ü"/>
            </a:pPr>
            <a:r>
              <a:rPr lang="en-US">
                <a:sym typeface="+mn-ea"/>
              </a:rPr>
              <a:t>OUTDOOR VOLLEYBALL POLES </a:t>
            </a:r>
            <a:endParaRPr lang="en-US"/>
          </a:p>
          <a:p>
            <a:pPr>
              <a:lnSpc>
                <a:spcPct val="40000"/>
              </a:lnSpc>
            </a:pPr>
            <a:endParaRPr lang="en-US"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10972800" cy="631190"/>
          </a:xfrm>
        </p:spPr>
        <p:txBody>
          <a:bodyPr>
            <a:normAutofit fontScale="90000"/>
          </a:bodyPr>
          <a:p>
            <a:pPr algn="ctr"/>
            <a:br>
              <a:rPr lang="en-US"/>
            </a:b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866390" y="383540"/>
            <a:ext cx="5689600" cy="790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sz="2800">
                <a:sym typeface="+mn-ea"/>
              </a:rPr>
              <a:t>INDOOR VOLLEYBALL POLES </a:t>
            </a:r>
            <a:endParaRPr lang="en-US" sz="2800"/>
          </a:p>
          <a:p>
            <a:pPr algn="ctr"/>
            <a:endParaRPr lang="en-US" sz="2800">
              <a:sym typeface="+mn-ea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</p:blipFill>
        <p:spPr>
          <a:xfrm>
            <a:off x="721995" y="1463040"/>
            <a:ext cx="10860405" cy="5045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sym typeface="+mn-ea"/>
              </a:rPr>
              <a:t>OUTDOOR VOLLEYBALL POLES</a:t>
            </a:r>
            <a:endParaRPr lang="en-US" sz="2800"/>
          </a:p>
        </p:txBody>
      </p:sp>
      <p:pic>
        <p:nvPicPr>
          <p:cNvPr id="5" name="Content Placeholder 4" descr="outdoor volley ball pole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264285" y="1174750"/>
            <a:ext cx="1010221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40105" y="774700"/>
            <a:ext cx="5158105" cy="834390"/>
          </a:xfrm>
        </p:spPr>
        <p:txBody>
          <a:bodyPr/>
          <a:p>
            <a:pPr indent="457200"/>
            <a:r>
              <a:rPr lang="en-US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sym typeface="+mn-ea"/>
              </a:rPr>
              <a:t>No.of polls</a:t>
            </a:r>
            <a:endParaRPr 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endParaRPr 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172200" y="495300"/>
            <a:ext cx="5183505" cy="553085"/>
          </a:xfrm>
        </p:spPr>
        <p:txBody>
          <a:bodyPr/>
          <a:p>
            <a:pPr marL="457200" lvl="1" indent="457200"/>
            <a:r>
              <a:rPr lang="en-US" sz="2400">
                <a:solidFill>
                  <a:srgbClr val="FF0000"/>
                </a:solidFill>
              </a:rPr>
              <a:t>position of polls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149600" y="28244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6" name="Content Placeholder 15"/>
          <p:cNvPicPr>
            <a:picLocks noChangeAspect="1"/>
          </p:cNvPicPr>
          <p:nvPr>
            <p:ph sz="half" idx="2"/>
          </p:nvPr>
        </p:nvPicPr>
        <p:blipFill>
          <a:blip r:embed="rId1"/>
        </p:blipFill>
        <p:spPr>
          <a:xfrm>
            <a:off x="1576705" y="2505075"/>
            <a:ext cx="3684905" cy="368490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62585" y="1850390"/>
            <a:ext cx="5330825" cy="540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 i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Two poles are there in volleyball.</a:t>
            </a:r>
            <a:endParaRPr lang="en-US" b="1" i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  <p:pic>
        <p:nvPicPr>
          <p:cNvPr id="20" name="Content Placeholder 3" descr="court"/>
          <p:cNvPicPr>
            <a:picLocks noChangeAspect="1"/>
          </p:cNvPicPr>
          <p:nvPr>
            <p:ph sz="quarter" idx="4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423025" y="2124710"/>
            <a:ext cx="4700905" cy="35001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Types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 b="1">
                <a:solidFill>
                  <a:srgbClr val="0070C0"/>
                </a:solidFill>
              </a:rPr>
              <a:t>Indoor volleyball nets:--</a:t>
            </a:r>
            <a:endParaRPr lang="en-US" sz="2400" b="1">
              <a:solidFill>
                <a:srgbClr val="0070C0"/>
              </a:solidFill>
            </a:endParaRPr>
          </a:p>
          <a:p>
            <a:endParaRPr lang="en-US" sz="2400" b="1"/>
          </a:p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Senoh HM50 Indoor Volleyball Net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Senoh FIVB Approved Indoor Volleyball Net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Sitting Volleyball Net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Mini Volleyball Net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L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>
                <a:solidFill>
                  <a:srgbClr val="0070C0"/>
                </a:solidFill>
              </a:rPr>
              <a:t>outdoor volleyball nets:--</a:t>
            </a:r>
            <a:endParaRPr lang="en-US" sz="2400" b="1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400" b="1"/>
          </a:p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Beach Volleyball Net 28 feet or 32 feet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Recreation Outdoor Volleyball Net 32 feet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Senoh FIVB Approved Beach Volleyball Net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236585" y="15233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930" y="190500"/>
            <a:ext cx="4578350" cy="1123950"/>
          </a:xfrm>
        </p:spPr>
        <p:txBody>
          <a:bodyPr/>
          <a:p>
            <a:pPr algn="ctr"/>
            <a:r>
              <a:rPr lang="en-US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</a:rPr>
              <a:t>No of Nets &amp; Length of Nets</a:t>
            </a:r>
            <a:endParaRPr lang="en-US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9410" y="1445260"/>
            <a:ext cx="4844415" cy="4682490"/>
          </a:xfrm>
        </p:spPr>
        <p:txBody>
          <a:bodyPr/>
          <a:p>
            <a:pPr marL="514350" indent="-514350" algn="l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ctr">
              <a:lnSpc>
                <a:spcPct val="40000"/>
              </a:lnSpc>
              <a:buClrTx/>
              <a:buSzTx/>
              <a:buFont typeface="+mj-lt"/>
              <a:buAutoNum type="arabicPeriod"/>
            </a:pPr>
            <a:r>
              <a:rPr lang="en-US" sz="2000" i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  <a:sym typeface="+mn-ea"/>
              </a:rPr>
              <a:t>Net Height for Men : </a:t>
            </a: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algn="ctr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ctr">
              <a:lnSpc>
                <a:spcPct val="40000"/>
              </a:lnSpc>
              <a:buClrTx/>
              <a:buSzTx/>
              <a:buFont typeface="+mj-lt"/>
              <a:buNone/>
            </a:pPr>
            <a:r>
              <a:rPr lang="en-US" sz="2000" i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  <a:sym typeface="+mn-ea"/>
              </a:rPr>
              <a:t>2.43m (7.11F)</a:t>
            </a: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ctr">
              <a:lnSpc>
                <a:spcPct val="40000"/>
              </a:lnSpc>
              <a:buClrTx/>
              <a:buSzTx/>
              <a:buFont typeface="+mj-lt"/>
              <a:buNone/>
            </a:pP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algn="ctr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lnSpc>
                <a:spcPct val="40000"/>
              </a:lnSpc>
              <a:buClrTx/>
              <a:buSzTx/>
              <a:buFont typeface="+mj-lt"/>
              <a:buNone/>
            </a:pPr>
            <a:r>
              <a:rPr lang="en-US" sz="2000" i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  <a:sym typeface="+mn-ea"/>
              </a:rPr>
              <a:t>2.  Net Height for women : </a:t>
            </a: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algn="ctr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ctr">
              <a:lnSpc>
                <a:spcPct val="40000"/>
              </a:lnSpc>
              <a:buClrTx/>
              <a:buSzTx/>
              <a:buFont typeface="+mj-lt"/>
              <a:buNone/>
            </a:pPr>
            <a:r>
              <a:rPr lang="en-US" sz="2000" i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  <a:sym typeface="+mn-ea"/>
              </a:rPr>
              <a:t>2.24m (7.4F)</a:t>
            </a: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000"/>
          </a:p>
          <a:p>
            <a:pPr marL="514350" indent="-514350" algn="l">
              <a:lnSpc>
                <a:spcPct val="40000"/>
              </a:lnSpc>
              <a:buClrTx/>
              <a:buSzTx/>
              <a:buFont typeface="+mj-lt"/>
              <a:buAutoNum type="arabicPeriod"/>
            </a:pP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Content Placeholder 10" descr="net heights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280025" y="1313815"/>
            <a:ext cx="6118860" cy="46736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158230" y="190500"/>
            <a:ext cx="5720715" cy="965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solidFill>
                  <a:srgbClr val="0070C0"/>
                </a:solidFill>
                <a:effectLst/>
                <a:sym typeface="+mn-ea"/>
              </a:rPr>
              <a:t>Position of Nets</a:t>
            </a:r>
            <a:endParaRPr lang="en-US"/>
          </a:p>
          <a:p>
            <a:pPr algn="ctr"/>
            <a:endParaRPr lang="en-US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solidFill>
                  <a:srgbClr val="FF0000"/>
                </a:solidFill>
                <a:effectLst/>
              </a:rPr>
              <a:t>Top Roof for Rain Season</a:t>
            </a:r>
            <a:endParaRPr lang="en-US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solidFill>
                <a:srgbClr val="FF0000"/>
              </a:solidFill>
              <a:effectLst/>
            </a:endParaRPr>
          </a:p>
        </p:txBody>
      </p:sp>
      <p:pic>
        <p:nvPicPr>
          <p:cNvPr id="5" name="Content Placeholder 4" descr="roof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34340" y="2162810"/>
            <a:ext cx="5661660" cy="4171315"/>
          </a:xfrm>
          <a:prstGeom prst="rect">
            <a:avLst/>
          </a:prstGeom>
        </p:spPr>
      </p:pic>
      <p:pic>
        <p:nvPicPr>
          <p:cNvPr id="8" name="Content Placeholder 7" descr="volley-ball-roof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43725" y="2162810"/>
            <a:ext cx="4808855" cy="417131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6600" y="773430"/>
            <a:ext cx="4693285" cy="74422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85535" y="633730"/>
            <a:ext cx="5523865" cy="955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527050" y="912495"/>
            <a:ext cx="5719445" cy="1113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dirty="0">
              <a:solidFill>
                <a:schemeClr val="bg2">
                  <a:lumMod val="25000"/>
                </a:schemeClr>
              </a:solidFill>
              <a:latin typeface="Bell MT" panose="02020503060305020303" pitchFamily="18" charset="0"/>
              <a:sym typeface="+mn-ea"/>
            </a:endParaRPr>
          </a:p>
          <a:p>
            <a:pPr marL="342900" indent="-342900" algn="l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Bell MT" panose="02020503060305020303" pitchFamily="18" charset="0"/>
                <a:sym typeface="+mn-ea"/>
              </a:rPr>
              <a:t>Plastic  roofing 						  												</a:t>
            </a:r>
            <a:br>
              <a:rPr lang="en-US" dirty="0">
                <a:latin typeface="Bell MT" panose="02020503060305020303" pitchFamily="18" charset="0"/>
                <a:sym typeface="+mn-ea"/>
              </a:rPr>
            </a:br>
            <a:r>
              <a:rPr lang="en-US" dirty="0">
                <a:latin typeface="Bell MT" panose="02020503060305020303" pitchFamily="18" charset="0"/>
                <a:sym typeface="+mn-ea"/>
              </a:rPr>
              <a:t> </a:t>
            </a:r>
            <a:endParaRPr lang="en-US" dirty="0">
              <a:latin typeface="Bell MT" panose="02020503060305020303" pitchFamily="18" charset="0"/>
              <a:sym typeface="+mn-ea"/>
            </a:endParaRPr>
          </a:p>
        </p:txBody>
      </p:sp>
      <p:sp>
        <p:nvSpPr>
          <p:cNvPr id="13" name="Text Box 12"/>
          <p:cNvSpPr txBox="1"/>
          <p:nvPr>
            <p:custDataLst>
              <p:tags r:id="rId5"/>
            </p:custDataLst>
          </p:nvPr>
        </p:nvSpPr>
        <p:spPr>
          <a:xfrm>
            <a:off x="6826885" y="761365"/>
            <a:ext cx="4925695" cy="1045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Bell MT" panose="02020503060305020303" pitchFamily="18" charset="0"/>
                <a:sym typeface="+mn-ea"/>
              </a:rPr>
              <a:t>											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Bell MT" panose="02020503060305020303" pitchFamily="18" charset="0"/>
                <a:sym typeface="+mn-ea"/>
              </a:rPr>
              <a:t>II </a:t>
            </a:r>
            <a:r>
              <a:rPr lang="en-US" dirty="0">
                <a:latin typeface="Bell MT" panose="02020503060305020303" pitchFamily="18" charset="0"/>
                <a:sym typeface="+mn-ea"/>
              </a:rPr>
              <a:t>.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Bell MT" panose="02020503060305020303" pitchFamily="18" charset="0"/>
                <a:sym typeface="+mn-ea"/>
              </a:rPr>
              <a:t>Aluminum coated roof sheet</a:t>
            </a:r>
            <a:br>
              <a:rPr lang="en-US" dirty="0">
                <a:latin typeface="Bell MT" panose="02020503060305020303" pitchFamily="18" charset="0"/>
                <a:sym typeface="+mn-ea"/>
              </a:rPr>
            </a:br>
            <a:r>
              <a:rPr lang="en-US" dirty="0">
                <a:latin typeface="Bell MT" panose="02020503060305020303" pitchFamily="18" charset="0"/>
                <a:sym typeface="+mn-ea"/>
              </a:rPr>
              <a:t> </a:t>
            </a:r>
            <a:endParaRPr lang="en-US" dirty="0">
              <a:latin typeface="Bell MT" panose="02020503060305020303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205" y="455295"/>
            <a:ext cx="10942955" cy="1028065"/>
          </a:xfrm>
        </p:spPr>
        <p:txBody>
          <a:bodyPr/>
          <a:p>
            <a:pPr algn="ctr"/>
            <a:r>
              <a:rPr lang="en-US">
                <a:ln w="12700">
                  <a:solidFill>
                    <a:srgbClr val="7030A0"/>
                  </a:solidFill>
                  <a:prstDash val="solid"/>
                </a:ln>
                <a:solidFill>
                  <a:srgbClr val="EBCCE8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Surronding Water Flow</a:t>
            </a:r>
            <a:endParaRPr lang="en-US">
              <a:ln w="12700">
                <a:solidFill>
                  <a:srgbClr val="7030A0"/>
                </a:solidFill>
                <a:prstDash val="solid"/>
              </a:ln>
              <a:solidFill>
                <a:srgbClr val="EBCCE8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marL="7620" indent="0" algn="ctr" fontAlgn="b">
              <a:buFont typeface="+mj-lt"/>
              <a:buNone/>
            </a:pP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21970" indent="-514350" algn="ctr" fontAlgn="b">
              <a:buFont typeface="+mj-lt"/>
              <a:buAutoNum type="romanLcPeriod"/>
            </a:pP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21970" indent="-514350" algn="ctr" fontAlgn="b">
              <a:buFont typeface="+mj-lt"/>
              <a:buAutoNum type="romanLcPeriod"/>
            </a:pPr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0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518285" y="1911350"/>
            <a:ext cx="8295005" cy="3637280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r>
              <a:rPr lang="en-US" sz="2800">
                <a:ln>
                  <a:solidFill>
                    <a:schemeClr val="tx1"/>
                  </a:solidFill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Types of fixes:--</a:t>
            </a:r>
            <a:endParaRPr lang="en-US" sz="2800">
              <a:ln>
                <a:solidFill>
                  <a:schemeClr val="tx1"/>
                </a:solidFill>
              </a:ln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800" i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Single fixes</a:t>
            </a:r>
            <a:endParaRPr lang="en-US" sz="28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800" i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Cumulative PTF packages</a:t>
            </a:r>
            <a:endParaRPr lang="en-US" sz="28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800" i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Fix groups</a:t>
            </a:r>
            <a:endParaRPr lang="en-US" sz="28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800" i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Service packs</a:t>
            </a:r>
            <a:endParaRPr lang="en-US" sz="2800" i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sz="2800">
              <a:ln w="6600">
                <a:solidFill>
                  <a:srgbClr val="7030A0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Lightining for Nights</a:t>
            </a:r>
            <a:endParaRPr 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295" y="2390140"/>
            <a:ext cx="5412740" cy="3737610"/>
          </a:xfrm>
        </p:spPr>
        <p:txBody>
          <a:bodyPr/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For a long time, the most popular type of lighting system used for volleyball courts was </a:t>
            </a: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metal halide lighting systems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. However, in the last decade LED sports lighting systems have taken over as the number one choice on the market.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These fixtures are the most common type found at volleyball courts because they provide </a:t>
            </a: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uniform and quality illumination with a focused beam angle for the court below.</a:t>
            </a:r>
            <a:endParaRPr lang="en-US" sz="2000" i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Content Placeholder 6" descr="lights"/>
          <p:cNvPicPr>
            <a:picLocks noChangeAspect="1"/>
          </p:cNvPicPr>
          <p:nvPr>
            <p:ph sz="half" idx="2"/>
          </p:nvPr>
        </p:nvPicPr>
        <p:blipFill>
          <a:blip r:embed="rId1"/>
          <a:srcRect t="13563" b="8469"/>
          <a:stretch>
            <a:fillRect/>
          </a:stretch>
        </p:blipFill>
        <p:spPr>
          <a:xfrm>
            <a:off x="6525260" y="1512570"/>
            <a:ext cx="4670425" cy="425767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6600" y="1223645"/>
            <a:ext cx="10972800" cy="9734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09600" y="1223645"/>
            <a:ext cx="5257800" cy="727075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sz="2400" b="0" i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Google Sans"/>
                <a:ea typeface="Google Sans"/>
              </a:rPr>
              <a:t>Types of lights</a:t>
            </a:r>
            <a:r>
              <a:rPr lang="en-US" sz="2400" b="0" i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Google Sans"/>
                <a:ea typeface="Google Sans"/>
              </a:rPr>
              <a:t> :--</a:t>
            </a:r>
            <a:endParaRPr lang="en-US" sz="2400" b="0" i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Google Sans"/>
              <a:ea typeface="Google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n>
                  <a:solidFill>
                    <a:srgbClr val="00B0F0"/>
                  </a:solidFill>
                </a:ln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No.of Lights </a:t>
            </a:r>
            <a:endParaRPr lang="en-US">
              <a:ln>
                <a:solidFill>
                  <a:srgbClr val="00B0F0"/>
                </a:solidFill>
              </a:ln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Content Placeholder 7"/>
          <p:cNvSpPr/>
          <p:nvPr>
            <p:ph sz="half" idx="1"/>
          </p:nvPr>
        </p:nvSpPr>
        <p:spPr/>
        <p:txBody>
          <a:bodyPr/>
          <a:p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No.of lights:--</a:t>
            </a: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For recreational and club-level volleyball play, </a:t>
            </a: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7 to 20 footcandles 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is appropriate in most cases. For competition or </a:t>
            </a: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professional level, up to 50 footcandles 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is typically utilized.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i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Content Placeholder 1" descr="position of lights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266815" y="1547495"/>
            <a:ext cx="5438775" cy="43319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>
                  <a:solidFill>
                    <a:srgbClr val="00B0F0"/>
                  </a:solidFill>
                </a:ln>
                <a:sym typeface="+mn-ea"/>
              </a:rPr>
              <a:t> Position of Lights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l">
              <a:buClrTx/>
              <a:buSzTx/>
              <a:buFontTx/>
            </a:pP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Location and height of light fixtures:--</a:t>
            </a: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FontTx/>
            </a:pP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FIVB recommends a mounting height of at least 12 meters (39 feet) for indoor courts and at least 8 meters (26 feet) for outdoor courts.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 algn="l">
              <a:buClrTx/>
              <a:buSzTx/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 order to provide even illumination across the court, the fixtures should be placed</a:t>
            </a: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457200" algn="l">
              <a:buClrTx/>
              <a:buSzTx/>
              <a:buFont typeface="+mj-lt"/>
              <a:buNone/>
            </a:pP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around the perimeter of the playing area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2000" i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Content Placeholder 6" descr="position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97600" y="1478280"/>
            <a:ext cx="5384800" cy="38830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9525">
                  <a:solidFill>
                    <a:srgbClr val="C00000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Focus of Lights</a:t>
            </a:r>
            <a:endParaRPr lang="en-US">
              <a:ln w="9525">
                <a:solidFill>
                  <a:srgbClr val="C00000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To have proper</a:t>
            </a: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lighting in your volleyball court</a:t>
            </a: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, you need to focus on the poles required in the field. The courts have different pole arrangements- 4 poles, 8 poles, etc. 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Not only this, but the heights of the pole also vary. If your volleyball court has tall poles, then you will need fewer poles.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Play Ground Matt</a:t>
            </a:r>
            <a:r>
              <a:rPr lang="en-US"/>
              <a:t> </a:t>
            </a:r>
            <a:endParaRPr lang="en-US"/>
          </a:p>
        </p:txBody>
      </p:sp>
      <p:pic>
        <p:nvPicPr>
          <p:cNvPr id="12" name="Content Placeholder 11" descr="wood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734685" y="1770380"/>
            <a:ext cx="5904865" cy="4079240"/>
          </a:xfrm>
          <a:prstGeom prst="rect">
            <a:avLst/>
          </a:prstGeom>
        </p:spPr>
      </p:pic>
      <p:sp>
        <p:nvSpPr>
          <p:cNvPr id="11" name="Content Placeholder 10"/>
          <p:cNvSpPr/>
          <p:nvPr>
            <p:ph sz="half" idx="1"/>
          </p:nvPr>
        </p:nvSpPr>
        <p:spPr/>
        <p:txBody>
          <a:bodyPr/>
          <a:p>
            <a:pPr marL="0" indent="0">
              <a:buNone/>
            </a:pP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Most commenly used ground matts are:</a:t>
            </a: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Wooden</a:t>
            </a: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PVC</a:t>
            </a:r>
            <a:endParaRPr 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0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Vinyl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62575" y="844550"/>
            <a:ext cx="6346825" cy="6972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sz="2400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Wooden </a:t>
            </a:r>
            <a:r>
              <a:rPr lang="en-US" sz="2400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Play Ground Matt</a:t>
            </a:r>
            <a:r>
              <a:rPr lang="en-US" b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</a:t>
            </a:r>
            <a:endParaRPr lang="en-US" b="1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1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6600" y="1271905"/>
            <a:ext cx="4173220" cy="14795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sz="2400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Types of Matt </a:t>
            </a:r>
            <a:endParaRPr lang="en-US" sz="2400" b="1" i="1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Types of Matt</a:t>
            </a:r>
            <a:endParaRPr lang="en-US"/>
          </a:p>
        </p:txBody>
      </p:sp>
      <p:pic>
        <p:nvPicPr>
          <p:cNvPr id="5" name="Content Placeholder 4" descr="pvc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32130" y="2129790"/>
            <a:ext cx="5149215" cy="3988435"/>
          </a:xfrm>
          <a:prstGeom prst="rect">
            <a:avLst/>
          </a:prstGeom>
        </p:spPr>
      </p:pic>
      <p:pic>
        <p:nvPicPr>
          <p:cNvPr id="6" name="Content Placeholder 5" descr="vineal floor matt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2700" y="2129790"/>
            <a:ext cx="5346700" cy="398843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757160" y="977900"/>
            <a:ext cx="395224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400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Vinyl </a:t>
            </a:r>
            <a:r>
              <a:rPr lang="en-US" sz="2400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Play Ground Matt</a:t>
            </a:r>
            <a:endParaRPr lang="en-US" sz="2400"/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6600" y="1247140"/>
            <a:ext cx="3492500" cy="5162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400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PV</a:t>
            </a:r>
            <a:r>
              <a:rPr lang="en-US" sz="2400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C </a:t>
            </a:r>
            <a:r>
              <a:rPr lang="en-US" sz="2400" b="1" i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Play Ground Matt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2700">
                  <a:solidFill>
                    <a:srgbClr val="FF0000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Calibri" panose="020F0502020204030204"/>
                <a:ea typeface="Calibri" panose="020F0502020204030204"/>
                <a:sym typeface="+mn-ea"/>
              </a:rPr>
              <a:t>S</a:t>
            </a:r>
            <a:r>
              <a:rPr>
                <a:ln w="12700">
                  <a:solidFill>
                    <a:srgbClr val="FF0000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Calibri" panose="020F0502020204030204"/>
                <a:ea typeface="Calibri" panose="020F0502020204030204"/>
                <a:sym typeface="+mn-ea"/>
              </a:rPr>
              <a:t>itting Area</a:t>
            </a:r>
            <a:endParaRPr lang="en-US">
              <a:ln w="12700">
                <a:solidFill>
                  <a:srgbClr val="FF0000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  <a:latin typeface="Calibri" panose="020F0502020204030204"/>
              <a:ea typeface="Calibri" panose="020F0502020204030204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774065"/>
            <a:ext cx="5076190" cy="591820"/>
          </a:xfrm>
        </p:spPr>
        <p:txBody>
          <a:bodyPr/>
          <a:p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6*8 feet sitting area for volleyball court</a:t>
            </a: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5436870" y="3318510"/>
          <a:ext cx="1318260" cy="182880"/>
        </p:xfrm>
        <a:graphic>
          <a:graphicData uri="http://schemas.openxmlformats.org/drawingml/2006/table">
            <a:tbl>
              <a:tblPr/>
              <a:tblGrid>
                <a:gridCol w="1318260"/>
              </a:tblGrid>
              <a:tr h="182880">
                <a:tc>
                  <a:txBody>
                    <a:bodyPr/>
                    <a:p>
                      <a:pPr marL="7620" indent="0" algn="ctr" fontAlgn="b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Content Placeholder 5" descr="sitting area"/>
          <p:cNvPicPr>
            <a:picLocks noChangeAspect="1"/>
          </p:cNvPicPr>
          <p:nvPr>
            <p:ph sz="half" idx="2"/>
          </p:nvPr>
        </p:nvPicPr>
        <p:blipFill>
          <a:blip r:embed="rId1"/>
          <a:srcRect t="1336" r="-3862" b="23791"/>
          <a:stretch>
            <a:fillRect/>
          </a:stretch>
        </p:blipFill>
        <p:spPr>
          <a:xfrm>
            <a:off x="2032000" y="1634490"/>
            <a:ext cx="8462010" cy="43529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Types of Tables and </a:t>
            </a:r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Chairs </a:t>
            </a:r>
            <a:endParaRPr 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965" y="1860550"/>
            <a:ext cx="5487670" cy="397637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237095" y="1861185"/>
            <a:ext cx="4345305" cy="38874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Types Of Equipments in Volleyball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sz="2000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Types of equipments :--</a:t>
            </a:r>
            <a:endParaRPr lang="en-US" sz="2000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Volleyball balls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Volleyball shorts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Volleyball t-shirts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Volleyball braces, sleeves and pads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Volleyball court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Volleyball net and poles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romanLcPeriod"/>
            </a:pPr>
            <a:r>
              <a:rPr lang="en-US" sz="2000" i="1">
                <a:latin typeface="Times New Roman" panose="02020603050405020304" charset="0"/>
                <a:cs typeface="Times New Roman" panose="02020603050405020304" charset="0"/>
              </a:rPr>
              <a:t>Volleyball penalty cards</a:t>
            </a:r>
            <a:endParaRPr 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 descr="equipments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399405" y="1174750"/>
            <a:ext cx="6183630" cy="46443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3665"/>
            <a:ext cx="10972800" cy="955040"/>
          </a:xfrm>
        </p:spPr>
        <p:txBody>
          <a:bodyPr/>
          <a:p>
            <a:pPr algn="ctr"/>
            <a:r>
              <a:rPr lang="en-US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Washroom Design</a:t>
            </a:r>
            <a:endParaRPr lang="en-US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pic>
        <p:nvPicPr>
          <p:cNvPr id="9" name="Content Placeholder 8" descr="washroom design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07110" y="2880995"/>
            <a:ext cx="4588510" cy="3246755"/>
          </a:xfrm>
          <a:prstGeom prst="rect">
            <a:avLst/>
          </a:prstGeom>
        </p:spPr>
      </p:pic>
      <p:pic>
        <p:nvPicPr>
          <p:cNvPr id="10" name="Content Placeholder 9" descr="washing equipments"/>
          <p:cNvPicPr>
            <a:picLocks noChangeAspect="1"/>
          </p:cNvPicPr>
          <p:nvPr>
            <p:ph sz="half" idx="2"/>
          </p:nvPr>
        </p:nvPicPr>
        <p:blipFill>
          <a:blip r:embed="rId2"/>
          <a:srcRect t="17673"/>
          <a:stretch>
            <a:fillRect/>
          </a:stretch>
        </p:blipFill>
        <p:spPr>
          <a:xfrm>
            <a:off x="6197600" y="2671445"/>
            <a:ext cx="5384800" cy="2493645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6600" y="1365885"/>
            <a:ext cx="4919980" cy="939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 </a:t>
            </a:r>
            <a:r>
              <a:rPr lang="en-US" sz="2400" b="1">
                <a:ln w="1270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Design &amp; Measurements</a:t>
            </a:r>
            <a:endParaRPr lang="en-US" sz="2400" b="1">
              <a:ln w="12700">
                <a:solidFill>
                  <a:schemeClr val="accent5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sp>
        <p:nvSpPr>
          <p:cNvPr id="12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98235" y="1069340"/>
            <a:ext cx="5511165" cy="1476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sz="2400" b="1">
                <a:ln w="1270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Washing Equipment</a:t>
            </a:r>
            <a:endParaRPr lang="en-US" sz="2400" b="1">
              <a:ln w="12700">
                <a:solidFill>
                  <a:schemeClr val="accent5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n w="12700">
                  <a:solidFill>
                    <a:srgbClr val="FD93F7"/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Cafeteria Design</a:t>
            </a:r>
            <a:endParaRPr lang="en-US">
              <a:ln w="12700">
                <a:solidFill>
                  <a:srgbClr val="FD93F7"/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Content Placeholder 3" descr="cafeteria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396365" y="1745615"/>
            <a:ext cx="3810000" cy="3810000"/>
          </a:xfrm>
          <a:prstGeom prst="rect">
            <a:avLst/>
          </a:prstGeom>
        </p:spPr>
      </p:pic>
      <p:pic>
        <p:nvPicPr>
          <p:cNvPr id="6" name="Content Placeholder 5" descr="relaxing equipments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98995" y="1744345"/>
            <a:ext cx="3458210" cy="333946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13055" y="835025"/>
            <a:ext cx="5467350" cy="5543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sz="2400" b="1">
                <a:ln w="12700">
                  <a:solidFill>
                    <a:schemeClr val="accent5"/>
                  </a:solidFill>
                  <a:prstDash val="solid"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</a:rPr>
              <a:t>Cafeteria Design &amp; Measurements</a:t>
            </a:r>
            <a:endParaRPr lang="en-US" sz="2400" b="1">
              <a:ln w="12700">
                <a:solidFill>
                  <a:schemeClr val="accent5"/>
                </a:solidFill>
                <a:prstDash val="solid"/>
              </a:ln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69685" y="962025"/>
            <a:ext cx="4805045" cy="5543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sz="2400" b="1">
                <a:ln w="12700">
                  <a:solidFill>
                    <a:schemeClr val="accent5"/>
                  </a:solidFill>
                  <a:prstDash val="solid"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</a:rPr>
              <a:t>Relaxing equipment</a:t>
            </a:r>
            <a:endParaRPr lang="en-US" sz="2400" b="1">
              <a:ln w="12700">
                <a:solidFill>
                  <a:schemeClr val="accent5"/>
                </a:solidFill>
                <a:prstDash val="solid"/>
              </a:ln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610735" y="3153410"/>
            <a:ext cx="665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8 feet</a:t>
            </a:r>
            <a:endParaRPr lang="en-US" sz="120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610735" y="2278380"/>
            <a:ext cx="9525" cy="28067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5" name="Straight Arrow Connector 4"/>
          <p:cNvCxnSpPr/>
          <p:nvPr/>
        </p:nvCxnSpPr>
        <p:spPr>
          <a:xfrm>
            <a:off x="2082800" y="5198110"/>
            <a:ext cx="2430780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8" name="Text Box 7"/>
          <p:cNvSpPr txBox="1"/>
          <p:nvPr/>
        </p:nvSpPr>
        <p:spPr>
          <a:xfrm>
            <a:off x="2844800" y="5256530"/>
            <a:ext cx="14084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10 ft</a:t>
            </a:r>
            <a:endParaRPr lang="en-US" sz="1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4374</Words>
  <Application>WPS Presentation</Application>
  <PresentationFormat>Widescreen</PresentationFormat>
  <Paragraphs>322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Calibri</vt:lpstr>
      <vt:lpstr>Bell MT</vt:lpstr>
      <vt:lpstr>Google Sans</vt:lpstr>
      <vt:lpstr>Segoe Print</vt:lpstr>
      <vt:lpstr>Calibri</vt:lpstr>
      <vt:lpstr>Green Color</vt:lpstr>
      <vt:lpstr>Volleyball Pitch </vt:lpstr>
      <vt:lpstr>Type of Volleyball courts</vt:lpstr>
      <vt:lpstr>Indoor Volley ball </vt:lpstr>
      <vt:lpstr>Outdoor Volley ball Court</vt:lpstr>
      <vt:lpstr>Design 50*26 feet Volleyball Court</vt:lpstr>
      <vt:lpstr>PowerPoint 演示文稿</vt:lpstr>
      <vt:lpstr>Floor sand </vt:lpstr>
      <vt:lpstr>Floor Material Volley ball Court </vt:lpstr>
      <vt:lpstr>Floor Grass volley ball Court Design</vt:lpstr>
      <vt:lpstr>Floor Markers</vt:lpstr>
      <vt:lpstr>Volley ball court Floor Cleanup Equipments </vt:lpstr>
      <vt:lpstr>Fencing Design</vt:lpstr>
      <vt:lpstr> </vt:lpstr>
      <vt:lpstr>OUTDOOR VOLLEYBALL POLES</vt:lpstr>
      <vt:lpstr>PowerPoint 演示文稿</vt:lpstr>
      <vt:lpstr>Types Of Nets</vt:lpstr>
      <vt:lpstr>No of Nets &amp; Length of Nets</vt:lpstr>
      <vt:lpstr>Top Roof for Rain Season</vt:lpstr>
      <vt:lpstr>Surronding Water Flow</vt:lpstr>
      <vt:lpstr>Lightining for Nights</vt:lpstr>
      <vt:lpstr>No.of Lights </vt:lpstr>
      <vt:lpstr> Position of Lights</vt:lpstr>
      <vt:lpstr>Focus of Lights</vt:lpstr>
      <vt:lpstr>Play Ground Matt </vt:lpstr>
      <vt:lpstr>Types of Matt</vt:lpstr>
      <vt:lpstr>Sitting Area</vt:lpstr>
      <vt:lpstr>Types of Tables and Chairs </vt:lpstr>
      <vt:lpstr>Types Of Equipments in Volleyball </vt:lpstr>
      <vt:lpstr>Washroom Design</vt:lpstr>
      <vt:lpstr>Cafeteria Design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Volleyball Pitch </dc:title>
  <dc:creator/>
  <cp:lastModifiedBy>hp</cp:lastModifiedBy>
  <cp:revision>73</cp:revision>
  <dcterms:created xsi:type="dcterms:W3CDTF">2024-06-07T19:29:00Z</dcterms:created>
  <dcterms:modified xsi:type="dcterms:W3CDTF">2024-06-22T11:13:10Z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2259C2BF6C934FEA85CBA80A1DD2A1BF_13</vt:lpwstr>
  </property>
  <property fmtid="{D5CDD505-2E9C-101B-9397-08002B2CF9AE}" pid="3" name="KSOProductBuildVer">
    <vt:lpwstr>1033-12.2.0.17119</vt:lpwstr>
  </property>
</Properties>
</file>